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F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84F38"/>
                </a:solidFill>
                <a:latin typeface="Times New Roman"/>
              </a:rPr>
              <a:t>1/10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155680" cy="18288"/>
          </a:xfrm>
          <a:prstGeom prst="rect">
            <a:avLst/>
          </a:prstGeom>
          <a:solidFill>
            <a:srgbClr val="875339"/>
          </a:solidFill>
          <a:ln>
            <a:solidFill>
              <a:srgbClr val="875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875339"/>
                </a:solidFill>
                <a:latin typeface="Times New Roman"/>
              </a:rPr>
              <a:t>Pride and Prejudice 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331720"/>
            <a:ext cx="8412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An interactive Chinese web game about hidden bias in AI advice.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Presenter: Joa-ovo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Advisor: Lawted Wu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F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84F38"/>
                </a:solidFill>
                <a:latin typeface="Times New Roman"/>
              </a:rPr>
              <a:t>2/10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155680" cy="18288"/>
          </a:xfrm>
          <a:prstGeom prst="rect">
            <a:avLst/>
          </a:prstGeom>
          <a:solidFill>
            <a:srgbClr val="875339"/>
          </a:solidFill>
          <a:ln>
            <a:solidFill>
              <a:srgbClr val="875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875339"/>
                </a:solidFill>
                <a:latin typeface="Times New Roman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AI advice often sounds neutral, calm, and professional.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Identity clues such as gender, age, and disability may still change the answer.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Biased advice may appear as polite warnings, lower expectations, or overprotection.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F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84F38"/>
                </a:solidFill>
                <a:latin typeface="Times New Roman"/>
              </a:rPr>
              <a:t>3/10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155680" cy="18288"/>
          </a:xfrm>
          <a:prstGeom prst="rect">
            <a:avLst/>
          </a:prstGeom>
          <a:solidFill>
            <a:srgbClr val="875339"/>
          </a:solidFill>
          <a:ln>
            <a:solidFill>
              <a:srgbClr val="875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875339"/>
                </a:solidFill>
                <a:latin typeface="Times New Roman"/>
              </a:rP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After users personally experience "same question, only identity changes," will they change their prompting habits?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Hypothesis: users will become more aware of hidden assumptions.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They may also use more constraint prompts in future AI conversations.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F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84F38"/>
                </a:solidFill>
                <a:latin typeface="Times New Roman"/>
              </a:rPr>
              <a:t>4/10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155680" cy="18288"/>
          </a:xfrm>
          <a:prstGeom prst="rect">
            <a:avLst/>
          </a:prstGeom>
          <a:solidFill>
            <a:srgbClr val="875339"/>
          </a:solidFill>
          <a:ln>
            <a:solidFill>
              <a:srgbClr val="875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875339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Counterfactual fairness supports the core comparison: only identity changes.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Studies on hiring, salary advice, disability, age, and Chinese models show bias in practical advice.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Prompting research matters because ordinary users can change how they 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F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84F38"/>
                </a:solidFill>
                <a:latin typeface="Times New Roman"/>
              </a:rPr>
              <a:t>5/10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155680" cy="18288"/>
          </a:xfrm>
          <a:prstGeom prst="rect">
            <a:avLst/>
          </a:prstGeom>
          <a:solidFill>
            <a:srgbClr val="875339"/>
          </a:solidFill>
          <a:ln>
            <a:solidFill>
              <a:srgbClr val="875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875339"/>
                </a:solidFill>
                <a:latin typeface="Times New Roman"/>
              </a:rPr>
              <a:t>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Many fairness audit tools target developers or researchers.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Public fairness games are often in English or not focused on AI dialogue.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This project turns fairness auditing into a short, non-technical Chinese user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F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84F38"/>
                </a:solidFill>
                <a:latin typeface="Times New Roman"/>
              </a:rPr>
              <a:t>6/10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155680" cy="18288"/>
          </a:xfrm>
          <a:prstGeom prst="rect">
            <a:avLst/>
          </a:prstGeom>
          <a:solidFill>
            <a:srgbClr val="875339"/>
          </a:solidFill>
          <a:ln>
            <a:solidFill>
              <a:srgbClr val="875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875339"/>
                </a:solidFill>
                <a:latin typeface="Times New Roman"/>
              </a:rPr>
              <a:t>Artifact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One-page web game: pre-test, identity dialogue, constraint workshop, blind test, post-test, and archive.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Users compare AI answers for the same question under different identities.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The experience is designed to take only a few minutes.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F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84F38"/>
                </a:solidFill>
                <a:latin typeface="Times New Roman"/>
              </a:rPr>
              <a:t>7/10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155680" cy="18288"/>
          </a:xfrm>
          <a:prstGeom prst="rect">
            <a:avLst/>
          </a:prstGeom>
          <a:solidFill>
            <a:srgbClr val="875339"/>
          </a:solidFill>
          <a:ln>
            <a:solidFill>
              <a:srgbClr val="875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875339"/>
                </a:solidFill>
                <a:latin typeface="Times New Roman"/>
              </a:rPr>
              <a:t>Website Screenshot and Expected Results</a:t>
            </a:r>
          </a:p>
        </p:txBody>
      </p:sp>
      <p:pic>
        <p:nvPicPr>
          <p:cNvPr id="5" name="Picture 4" descr="screen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5394960" cy="3596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417320"/>
            <a:ext cx="5074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Expected result 1: users notice hidden assumptions in AI advice more easily.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Expected result 2: users recognize that bias can look like helpful safety advice.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Expected result 3: some users begin to add fairer constraint prompts.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F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84F38"/>
                </a:solidFill>
                <a:latin typeface="Times New Roman"/>
              </a:rPr>
              <a:t>8/10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155680" cy="18288"/>
          </a:xfrm>
          <a:prstGeom prst="rect">
            <a:avLst/>
          </a:prstGeom>
          <a:solidFill>
            <a:srgbClr val="875339"/>
          </a:solidFill>
          <a:ln>
            <a:solidFill>
              <a:srgbClr val="875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875339"/>
                </a:solidFill>
                <a:latin typeface="Times New Roman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Target users: non-technical Chinese users who use AI for life, learning, or career advice.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Data: paired pre/post questionnaire, blind-test accuracy, prompt behavior, and short open feedback.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No real user data is claimed at this stage.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F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84F38"/>
                </a:solidFill>
                <a:latin typeface="Times New Roman"/>
              </a:rPr>
              <a:t>9/10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155680" cy="18288"/>
          </a:xfrm>
          <a:prstGeom prst="rect">
            <a:avLst/>
          </a:prstGeom>
          <a:solidFill>
            <a:srgbClr val="875339"/>
          </a:solidFill>
          <a:ln>
            <a:solidFill>
              <a:srgbClr val="875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875339"/>
                </a:solidFill>
                <a:latin typeface="Times New Roman"/>
              </a:rPr>
              <a:t>Plan and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Late June: improve website flow and wording.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Early July: run a small user test.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Challenges: script validity, measurement validity, and data ethics.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F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84F38"/>
                </a:solidFill>
                <a:latin typeface="Times New Roman"/>
              </a:rPr>
              <a:t>10/10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155680" cy="18288"/>
          </a:xfrm>
          <a:prstGeom prst="rect">
            <a:avLst/>
          </a:prstGeom>
          <a:solidFill>
            <a:srgbClr val="875339"/>
          </a:solidFill>
          <a:ln>
            <a:solidFill>
              <a:srgbClr val="875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875339"/>
                </a:solidFill>
                <a:latin typeface="Times New Roman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The goal is not to make people afraid of AI.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The goal is to help people ask: what hidden assumption is inside this answer?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36261B"/>
                </a:solidFill>
                <a:latin typeface="Times New Roman"/>
              </a:rPr>
              <a:t>Questions and suggestions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